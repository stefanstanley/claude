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f8aca0d5-284c-91de-b3f0-44b0f786e01f}">
          <p14:sldIdLst>
            <p14:sldId id="256"/>
          </p14:sldIdLst>
        </p14:section>
        <p14:section name="Das Angebot" id="{a35ba0bc-e34b-5a3c-4fcd-5ee4038d3b3c}">
          <p14:sldIdLst>
            <p14:sldId id="257"/>
            <p14:sldId id="258"/>
          </p14:sldIdLst>
        </p14:section>
        <p14:section name="Die vier Fragen" id="{be06a3af-3b55-d36b-87e8-be17e5aff35b}">
          <p14:sldIdLst>
            <p14:sldId id="259"/>
            <p14:sldId id="260"/>
            <p14:sldId id="261"/>
            <p14:sldId id="262"/>
          </p14:sldIdLst>
        </p14:section>
        <p14:section name="Nachweis" id="{92aafdf3-4a11-3afe-3545-858cfb491b92}">
          <p14:sldIdLst>
            <p14:sldId id="263"/>
          </p14:sldIdLst>
        </p14:section>
        <p14:section name="Vorschlag" id="{f560b2a3-bd45-703b-d982-ad3613bcfd49}">
          <p14:sldIdLst>
            <p14:sldId id="264"/>
            <p14:sldId id="265"/>
          </p14:sldIdLst>
        </p14:section>
        <p14:section name="Entscheidung" id="{a48e33e9-f27e-b172-85ca-6e33376c16e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Wir haben bei den letzten Vorhaben vier Punkte von Ihnen gehört — Connectoren, API-Keys, Zugriff auf Kundendaten, sauberer Betrieb. Diese Fragen sind berechtigt, und wir haben sie beantwortet. Der Aufwand für die erste Stufe liegt bei rund vier Personentagen.
Nicht sagen: 'Die IT blockiert.' Die IT haftet — das ist der Unterschied.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 first. Diese Folie ist der Kern — wenn nur eine Folie hängen bleibt, dann diese.
Der letzte Punkt ist die wertvollste Zusage: Erster Ansprechpartner im Störfall ist die Fachseite, nicht die IT. Damit nehmen wir ihnen genau das ab, wovor sie sich fürchten — nachts für etwas gerufen zu werden, das sie nicht gebaut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Spannung aufbauen, ohne zu drohen. Der Abschalttermin betrifft beide Seiten gleich.
Die mittlere Karte ist das Argument, das sitzt: Ohne Einigung entsteht die Schnittstelle trotzdem — nur ungeregelt. Das will die IT am wenigsten.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letzte Satz ist eine echte Zusage an die IT: Sie darf abschalten, was nicht eingetragen ist. Das ist die Handhabe gegen Schatten-IT, die sie bisher nicht hat.
Falls gefragt wird: Ja, auch unsere eigenen Prototypen. Keine Ausnahme.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Folie, die das Gespräch dreht. Erst die Sorge ernst nehmen, dann zeigen, dass der befürchtete Mechanismus hier nicht existiert.
Ergänzen: Token liegen im Azure Key Vault bzw. Databricks Secret Scope — nie in Code, Notebook oder Repository. Das ist heute schon umgesetzt, nicht geplant.
Eine Ausnahme offen benennen: SK-001 braucht Schreibrecht auf genau ein Attribut, den Übertragungsstatus. Sonst liefert jeder Lauf alle Vorgänge erneut.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Die rechte Karte selbst ansprechen, nicht darauf warten, dass die IT sie findet. Das kostet nichts und bringt Glaubwürdigkeit — wir haben die unbequeme Stelle selbst benannt.
Der Punkt ist real: Die Bronze-Ablage enthält den vollen Vorgang mit allen 880 Attributen. Die Schnittstelle selbst ist harmlos, die Rohdatenablage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Fünf Bausteine, nicht mehr. Jeder ersetzt etwas, das heute ein Mensch leistet.
Punkt 5 ist der Ersatz für die fehlende Quittung — monatlicher Abgleich der übertragenen gegen die in SAP angekommenen Sätze. Das ist der Punkt, der die IT am meisten beruhigt.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der Glaubwürdigkeitsbeweis. Wenn jemand nachfragt, kann man die Stelle im Code zeigen — Dateiname und Funktion stehen im Governance-Dokument, Anhang.
Nicht alle neun vorlesen. Zwei oder drei herausgreifen, die zum Gesprächsverlauf 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Empfehlung ist nicht Bequemlichkeit, sondern Wirksamkeit. Stufe 2 entsteht an den Stellen, an denen der Betrieb zeigt, wo es weh tut — nicht dort, wo die Planung es vermutet.
Falls Widerstand kommt ('warum nicht gleich Stufe 2'): Stufe 2 läuft parallel zum ersten Produktivgang. Es geht nicht um ob, sondern um die Reihenfolge.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zentrale Botschaft: Wir erfinden keine Rollenlandschaft. Drei bestehende Rollen bekommen eine klare Zuordnung, eine kleine Rolle kommt dazu.
Zum falschen Register ergänzen: Es ist schlimmer als keines, weil es Vertrauen erzeugt, das nicht gerechtfertigt ist. Genau dort entsteht die Schatten-IT.
Der letzte Satz ist wichtig — er zeigt, dass wir keine Bürokratie aufbauen wollen. Das nimmt dem Gegenüber ein Standardargument. Bei zwei bis fünf Strecken erzeugt ein Gremium mehr Abstimmung als Nutzen.
Zwei weitere Punkte, falls gefragt: Datenschutz ist ein Prozessschritt, keine neue Rolle. Stellvertretung ist ein Eintrag im Register, keine Stelle.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konkrete Zusagen, jede mit Adressat und Termin. Nicht mehr — wer fünf Dinge entscheiden soll, entscheidet keines.
Falls die Runde nicht entscheiden kann: Mindestens Punkt 1 festmachen, der blockiert sonst den Probelauf. Punkte 2 und 3 können schriftlich nachgezogen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freiwillig und genau deshalb wirksam: Wer die unbequemen Stellen selbst nennt, wird zu den übrigen Aussagen geglaubt.
Falls die Zeit knapp wird, kann die Folie als Pre-Read dienen und übersprungen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1F3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AFC3C7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3"/>
                </a:solidFill>
              </a:rPr>
              <a:t>Governance Schnittstellen · Cluster Digitalisierung, Data &amp;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_DUNKEL">
    <p:bg>
      <p:bgPr>
        <a:solidFill>
          <a:srgbClr val="1F3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für Schnittstellen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7490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C3C7"/>
                </a:solidFill>
              </a:rPr>
              <a:t>Vier Fragen. Vier Antworten. Vier Personentage.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FC3C7"/>
                </a:solidFill>
              </a:rPr>
              <a:t>epilot → SAP · Einspeiser (SK-001) und § 14a (SK-002)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C7"/>
                </a:solidFill>
              </a:rPr>
              <a:t>09.10.2026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Angebot in einem Satz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FC3C7"/>
                </a:solidFill>
              </a:rPr>
              <a:t>Das Cluster übernimmt die fachliche Verantwortung und liefert die Nachweise.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FC3C7"/>
                </a:solidFill>
              </a:rPr>
              <a:t>Die IT behält die Kontrolle über Zugänge und Netzzugang.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Die IT gibt</a:t>
                      </a:r>
                      <a:endParaRPr lang="en-US" sz="14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Das Cluster liefert</a:t>
                      </a:r>
                      <a:endParaRPr lang="en-US" sz="14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Technischen Nutzer, Key-Vault-Zugang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Register, benannte Rollen, Betriebsanleitung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Netzzugang zur Dateiablage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Nachweis: keine personenbezogenen Daten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Mitzeichnung statt Durchsetzung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Fachliche Verantwortung inkl. Klärfälle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Bereitschaft im Störfall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Erster Ansprechpartner ist die Fachseite</a:t>
                      </a:r>
                      <a:endParaRPr lang="en-US" sz="1300" dirty="0"/>
                    </a:p>
                  </a:txBody>
                  <a:tcPr marL="128016" marR="128016" marT="128016" marB="128016" anchor="ctr">
                    <a:lnL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F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C5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7D1E"/>
                </a:solidFill>
              </a:rPr>
              <a:t>Das ist ein Tauschgeschäft, kein Durchsetzungsversuch.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 Frage jetzt entschieden werden muss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9"/>
                </a:solidFill>
              </a:rPr>
              <a:t>Der Endtermin kommt von außen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Das Altportal Lovion wird abgeschaltet. Mit ihm fällt die Fachanwendung weg, die heute beide CSV-Dateien erzeugt. Der Termin ist nicht verhandelbar — ohne tragende Schnittstelle fehlen SAP die Daten für die EEG-Abrechnung.</a:t>
            </a:r>
            <a:endParaRPr lang="en-US" sz="1400" dirty="0"/>
          </a:p>
        </p:txBody>
      </p:sp>
      <p:sp>
        <p:nvSpPr>
          <p:cNvPr id="5" name="karte_Heute"/>
          <p:cNvSpPr/>
          <p:nvPr/>
        </p:nvSpPr>
        <p:spPr>
          <a:xfrm>
            <a:off x="640080" y="27432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443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3324"/>
                </a:solidFill>
              </a:rPr>
              <a:t>Heute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Schnittstellen entstehen im Projekt. Niemand führt sie. Wenn eine ausfällt, wird die IT gerufen — für etwas, das sie nicht kennt.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8646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Folge: Die IT bremst. Zu Recht.</a:t>
            </a:r>
            <a:endParaRPr lang="en-US" sz="1100" dirty="0"/>
          </a:p>
        </p:txBody>
      </p:sp>
      <p:sp>
        <p:nvSpPr>
          <p:cNvPr id="9" name="karte_Ohne Einigung"/>
          <p:cNvSpPr/>
          <p:nvPr/>
        </p:nvSpPr>
        <p:spPr>
          <a:xfrm>
            <a:off x="4343400" y="27432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9443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Ohne Einigung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64992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Aus einer Governance-Frage wird ein Terminproblem. Beide Seiten verlieren: Die IT bekommt die Schnittstelle trotzdem, nur ohne Regeln.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646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Das ist das eigentliche Risiko.</a:t>
            </a:r>
            <a:endParaRPr lang="en-US" sz="1100" dirty="0"/>
          </a:p>
        </p:txBody>
      </p:sp>
      <p:sp>
        <p:nvSpPr>
          <p:cNvPr id="13" name="karte_Mit Stufe 1"/>
          <p:cNvSpPr/>
          <p:nvPr/>
        </p:nvSpPr>
        <p:spPr>
          <a:xfrm>
            <a:off x="8046720" y="2743200"/>
            <a:ext cx="3474720" cy="2651760"/>
          </a:xfrm>
          <a:prstGeom prst="roundRect">
            <a:avLst>
              <a:gd name="adj" fmla="val 206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6B"/>
                </a:solidFill>
              </a:rPr>
              <a:t>Mit Stufe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364992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Jede Schnittstelle hat einen Namen im Register, eine Betriebsanleitung und eine Eskalation. Die IT weiß, was läuft.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864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Aufwand: rund vier Personentage.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 1 — Was passiert mit Connectoren?</a:t>
            </a:r>
            <a:endParaRPr lang="en-US" sz="3000" dirty="0"/>
          </a:p>
        </p:txBody>
      </p:sp>
      <p:sp>
        <p:nvSpPr>
          <p:cNvPr id="3" name="kreis_1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E5A69"/>
          </a:solidFill>
          <a:ln w="12700">
            <a:solidFill>
              <a:srgbClr val="0E5A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69"/>
                </a:solidFill>
              </a:rPr>
              <a:t>Das Risiko ist nicht der Connector, sondern das persönliche Konto dahinter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Ein Connector unter dem Konto eines Mitarbeiters bricht, sobald dieser das Unternehmen verlässt oder sein Passwort wechselt. Niemand weiß dann, warum.</a:t>
            </a:r>
            <a:endParaRPr lang="en-US" sz="1400" dirty="0"/>
          </a:p>
        </p:txBody>
      </p:sp>
      <p:sp>
        <p:nvSpPr>
          <p:cNvPr id="7" name="karte_Festlegung"/>
          <p:cNvSpPr/>
          <p:nvPr/>
        </p:nvSpPr>
        <p:spPr>
          <a:xfrm>
            <a:off x="640080" y="278892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9"/>
                </a:solidFill>
              </a:rPr>
              <a:t>Festlegung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1071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Jede Verbindung läuft über einen technischen Nutzer. Nie über ein persönliches Konto — auch nicht in der Erprobung.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10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Ein Prototyp mit persönlichem Konto wird zum Produktivbetrieb, ohne dass jemand die Entscheidung trifft.</a:t>
            </a:r>
            <a:endParaRPr lang="en-US" sz="1100" dirty="0"/>
          </a:p>
        </p:txBody>
      </p:sp>
      <p:sp>
        <p:nvSpPr>
          <p:cNvPr id="11" name="karte_Nachweis"/>
          <p:cNvSpPr/>
          <p:nvPr/>
        </p:nvSpPr>
        <p:spPr>
          <a:xfrm>
            <a:off x="6217920" y="278892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9"/>
                </a:solidFill>
              </a:rPr>
              <a:t>Nachweis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41071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Jede Verbindung steht im Schnittstellen-Register: technischer Nutzer, Zweck, verantwortliche Person, Stellvertretung.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910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Was nicht im Register steht, existiert nicht — und darf abgeschaltet werden.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 2 — Wer verwaltet den API-Key?</a:t>
            </a:r>
            <a:endParaRPr lang="en-US" sz="3000" dirty="0"/>
          </a:p>
        </p:txBody>
      </p:sp>
      <p:sp>
        <p:nvSpPr>
          <p:cNvPr id="3" name="kreis_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E5A69"/>
          </a:solidFill>
          <a:ln w="12700">
            <a:solidFill>
              <a:srgbClr val="0E5A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69"/>
                </a:solidFill>
              </a:rPr>
              <a:t>epilot hat keine klassischen API-Keys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Jeder Zugang ist ein JWT, erzeugt über die Access Token API. Er trägt vier Eigenschaften, die ein statischer Schlüssel nicht hat: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63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Eigenschaft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Bedeutung für die IT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5A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assignments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Der Token trägt Rollen in sich. Ein Export-Token braucht keine Schreibrechte auf Kontakte.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5A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read_only: 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Beschränkt den Token technisch auf lesende Operationen.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5A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expires_in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Läuft ab — 30 Sekunden bis 7 Tage. Ein dauerhaft gültiges Geheimnis gibt es nicht.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5A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/access-tokens/{id}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Zieht einen Token sofort zurück.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5A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/access-tokens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Vollständiges Inventar aller Token — aus dem System, nicht aus einer Liste.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C7A6B"/>
                </a:solidFill>
              </a:rPr>
              <a:t>Das ist mehr Kontrolle, als ein statischer Schlüssel bieten könnte. Die Sorge trifft einen Mechanismus, den es hier nicht gibt.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 3 — Wer hat Zugriff auf Kundendaten?</a:t>
            </a:r>
            <a:endParaRPr lang="en-US" sz="3000" dirty="0"/>
          </a:p>
        </p:txBody>
      </p:sp>
      <p:sp>
        <p:nvSpPr>
          <p:cNvPr id="3" name="kreis_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E5A69"/>
          </a:solidFill>
          <a:ln w="12700">
            <a:solidFill>
              <a:srgbClr val="0E5A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6B"/>
                </a:solidFill>
              </a:rPr>
              <a:t>SK-001 überträgt keine personenbezogenen Daten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Belegt, nicht behauptet: Die Analyse aller 30 Exportspalten liegt vor. Enthalten sind ausschließlich technische Anlagendaten am Anschlussobjekt — kein Name, keine IBAN, kein Umsatzsteuerstatus. Die Klärliste enthält nur Vorgangskennung und Grund; ein automatisierter Test sichert das ab.</a:t>
            </a:r>
            <a:endParaRPr lang="en-US" sz="1400" dirty="0"/>
          </a:p>
        </p:txBody>
      </p:sp>
      <p:sp>
        <p:nvSpPr>
          <p:cNvPr id="7" name="karte_Trotzdem zu regeln"/>
          <p:cNvSpPr/>
          <p:nvPr/>
        </p:nvSpPr>
        <p:spPr>
          <a:xfrm>
            <a:off x="640080" y="301752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9"/>
                </a:solidFill>
              </a:rPr>
              <a:t>Trotzdem zu regeln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3931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Rollen in epilot — nicht jeder Mitarbeiter sieht jeden Vorgang. Protokolle ohne Antragsinhalte. AV-Vertrag mit epilot als SaaS-Anbieter. Löschkonzept mit EEG-Aufbewahrungspflichten.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64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Prüfpunkte für den Datenschutz.</a:t>
            </a:r>
            <a:endParaRPr lang="en-US" sz="1100" dirty="0"/>
          </a:p>
        </p:txBody>
      </p:sp>
      <p:sp>
        <p:nvSpPr>
          <p:cNvPr id="11" name="karte_Der eigentliche Pu"/>
          <p:cNvSpPr/>
          <p:nvPr/>
        </p:nvSpPr>
        <p:spPr>
          <a:xfrm>
            <a:off x="6217920" y="301752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Der eigentliche Punkt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3931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Die Rohdatenablage in Databricks enthält mehr als die Exportdatei — den vollständigen Vorgang. Dort greifen die Berechtigungsfragen voll.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864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Deshalb sind Export und Rohdatenablage in diesem Vorhaben zwei getrennte Stränge.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 4 — Wie wird sauberer Betrieb gewährleistet?</a:t>
            </a:r>
            <a:endParaRPr lang="en-US" sz="3000" dirty="0"/>
          </a:p>
        </p:txBody>
      </p:sp>
      <p:sp>
        <p:nvSpPr>
          <p:cNvPr id="3" name="kreis_4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E5A69"/>
          </a:solidFill>
          <a:ln w="12700">
            <a:solidFill>
              <a:srgbClr val="0E5A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3324"/>
                </a:solidFill>
              </a:rPr>
              <a:t>Eine Dateischnittstelle hat keine Quittung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Holt SAP die Datei nicht ab, merkt es niemand. Heute fällt es auf, weil ein Mensch im Prozess steht. Nach der Automatisierung fällt diese Sicherung weg — sie muss ersetzt werden.</a:t>
            </a:r>
            <a:endParaRPr lang="en-US" sz="1400" dirty="0"/>
          </a:p>
        </p:txBody>
      </p:sp>
      <p:sp>
        <p:nvSpPr>
          <p:cNvPr id="7" name="kreis_1"/>
          <p:cNvSpPr/>
          <p:nvPr/>
        </p:nvSpPr>
        <p:spPr>
          <a:xfrm>
            <a:off x="685800" y="2798064"/>
            <a:ext cx="384048" cy="384048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4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Benannte Zuständigkeit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3"/>
                </a:solidFill>
              </a:rPr>
              <a:t>fachlich und technisch, je mit Stellvertretung</a:t>
            </a:r>
            <a:endParaRPr lang="en-US" sz="1300" dirty="0"/>
          </a:p>
        </p:txBody>
      </p:sp>
      <p:sp>
        <p:nvSpPr>
          <p:cNvPr id="11" name="kreis_2"/>
          <p:cNvSpPr/>
          <p:nvPr/>
        </p:nvSpPr>
        <p:spPr>
          <a:xfrm>
            <a:off x="685800" y="3465576"/>
            <a:ext cx="384048" cy="384048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4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107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Betriebsanleitung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107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3"/>
                </a:solidFill>
              </a:rPr>
              <a:t>eine Seite je Schnittstelle, nicht zwanzig</a:t>
            </a:r>
            <a:endParaRPr lang="en-US" sz="1300" dirty="0"/>
          </a:p>
        </p:txBody>
      </p:sp>
      <p:sp>
        <p:nvSpPr>
          <p:cNvPr id="15" name="kreis_3"/>
          <p:cNvSpPr/>
          <p:nvPr/>
        </p:nvSpPr>
        <p:spPr>
          <a:xfrm>
            <a:off x="685800" y="4133088"/>
            <a:ext cx="384048" cy="384048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4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782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Alarmierung mit Eskalation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0782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3"/>
                </a:solidFill>
              </a:rPr>
              <a:t>wer zuerst, wer danach, ab wann Störungsmeldung</a:t>
            </a:r>
            <a:endParaRPr lang="en-US" sz="1300" dirty="0"/>
          </a:p>
        </p:txBody>
      </p:sp>
      <p:sp>
        <p:nvSpPr>
          <p:cNvPr id="19" name="kreis_4"/>
          <p:cNvSpPr/>
          <p:nvPr/>
        </p:nvSpPr>
        <p:spPr>
          <a:xfrm>
            <a:off x="685800" y="4800600"/>
            <a:ext cx="384048" cy="384048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4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745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Klärfälle mit Bearbeiter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74573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3"/>
                </a:solidFill>
              </a:rPr>
              <a:t>ohne Zuständigkeit verschwinden die Fälle</a:t>
            </a:r>
            <a:endParaRPr lang="en-US" sz="1300" dirty="0"/>
          </a:p>
        </p:txBody>
      </p:sp>
      <p:sp>
        <p:nvSpPr>
          <p:cNvPr id="23" name="kreis_5"/>
          <p:cNvSpPr/>
          <p:nvPr/>
        </p:nvSpPr>
        <p:spPr>
          <a:xfrm>
            <a:off x="685800" y="5468112"/>
            <a:ext cx="384048" cy="384048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42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413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Abgleich statt Hoffnung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54132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3"/>
                </a:solidFill>
              </a:rPr>
              <a:t>wurde die Datei abgeholt, stimmt die Satzanzahl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Neun Anforderungen sind schon umgesetzt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3"/>
                </a:solidFill>
              </a:rPr>
              <a:t>Belegmaterial, keine Absichtserklärung — jede Zeile hat eine Nachweisstelle im Code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12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Keine Geheimnisse im Code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Token aus dem Secret Scope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Keine internen Pfade im Repository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Konfiguration in .gitignore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Keine personenbezogenen Daten in der Klärliste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automatisierter Test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Keine stillen Datenverluste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Kodierungsfehler gehen in die Klärliste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Keine halben Dateien für SAP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atomare Ablage über temporären Namen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Wiederholbarkeit ohne Datenverlust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Status erst nach erfolgreicher Ablage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Nachvollziehbare Änderungen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Git mit Conventional Commits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Prüfbare Codequalität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40 Tests, Linter ohne Befund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Dokumentierte Annahmen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A73"/>
                          </a:solidFill>
                        </a:rPr>
                        <a:t>ANNAHME-Markierungen in der Konfiguration</a:t>
                      </a:r>
                      <a:endParaRPr lang="en-US" sz="125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6B"/>
                </a:solidFill>
              </a:rPr>
              <a:t>Wir reden nicht über Governance, die entstehen soll — wir zeigen, was läuft.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Ausbaustufen — Empfehlung: Stufe 1 jetzt</a:t>
            </a:r>
            <a:endParaRPr lang="en-US" sz="3000" dirty="0"/>
          </a:p>
        </p:txBody>
      </p:sp>
      <p:sp>
        <p:nvSpPr>
          <p:cNvPr id="3" name="stufe_Stufe 1 "/>
          <p:cNvSpPr/>
          <p:nvPr/>
        </p:nvSpPr>
        <p:spPr>
          <a:xfrm>
            <a:off x="640080" y="128016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E8F2EE"/>
          </a:solidFill>
          <a:ln w="25400">
            <a:solidFill>
              <a:srgbClr val="2C7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813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</a:rPr>
              <a:t>Stufe 1 · MVP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653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3"/>
                </a:solidFill>
              </a:rPr>
              <a:t>zwei Wochen · ~4 Personentage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Register, benannte Rollen mit Vertretung, technische Nutzer, Secrets im Key Vault, Betriebsanleitung, Klärfalladresse.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7A6B"/>
                </a:solidFill>
              </a:rPr>
              <a:t>Beantwortet alle vier Fragen nachweisbar.</a:t>
            </a:r>
            <a:endParaRPr lang="en-US" sz="1150" dirty="0"/>
          </a:p>
        </p:txBody>
      </p:sp>
      <p:sp>
        <p:nvSpPr>
          <p:cNvPr id="8" name="stufe_Stufe 2 "/>
          <p:cNvSpPr/>
          <p:nvPr/>
        </p:nvSpPr>
        <p:spPr>
          <a:xfrm>
            <a:off x="4343400" y="128016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4813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A69"/>
                </a:solidFill>
              </a:rPr>
              <a:t>Stufe 2 · Belastbar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86537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3"/>
                </a:solidFill>
              </a:rPr>
              <a:t>drei bis sechs Monate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286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Freigabeprozess, Überwachung mit Eskalation, Abgleich mit SAP, Berechtigungskonzept mit Jahresdurchsicht, Änderungsprozess, Trennung Test/Produktiv.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434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5A69"/>
                </a:solidFill>
              </a:rPr>
              <a:t>Übersteht eine Prüfung.</a:t>
            </a:r>
            <a:endParaRPr lang="en-US" sz="1150" dirty="0"/>
          </a:p>
        </p:txBody>
      </p:sp>
      <p:sp>
        <p:nvSpPr>
          <p:cNvPr id="13" name="stufe_Stufe 3 "/>
          <p:cNvSpPr/>
          <p:nvPr/>
        </p:nvSpPr>
        <p:spPr>
          <a:xfrm>
            <a:off x="8046720" y="1280160"/>
            <a:ext cx="3474720" cy="3749040"/>
          </a:xfrm>
          <a:prstGeom prst="roundRect">
            <a:avLst>
              <a:gd name="adj" fmla="val 157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813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A73"/>
                </a:solidFill>
              </a:rPr>
              <a:t>Stufe 3 · Zielbild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8653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3"/>
                </a:solidFill>
              </a:rPr>
              <a:t>ab etwa fünf Schnittstellen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86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Automatisierte Rotation, Token-Inventar maschinell gegen das Register geprüft, Protokollauswertung, Leitplanken statt Einzelfreigaben.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3"/>
                </a:solidFill>
              </a:rPr>
              <a:t>Skaliert ohne Mehraufwand je Strecke.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Warum nicht alles sofort: Governance, die vor dem ersten Lauf vollständig sein soll, verzögert den Lauf — und wird danach umgeschrieben, weil die Praxis andere Fragen stellt als die Planung.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Rollen — drei vorhandene genügen, eine kommt dazu</a:t>
            </a:r>
            <a:endParaRPr lang="en-US" sz="3000" dirty="0"/>
          </a:p>
        </p:txBody>
      </p:sp>
      <p:sp>
        <p:nvSpPr>
          <p:cNvPr id="3" name="rolle_0"/>
          <p:cNvSpPr/>
          <p:nvPr/>
        </p:nvSpPr>
        <p:spPr>
          <a:xfrm>
            <a:off x="640080" y="123444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9"/>
                </a:solidFill>
              </a:rPr>
              <a:t>Product Owner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73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3"/>
                </a:solidFill>
              </a:rPr>
              <a:t>Schnittstellen-Owner, fachlich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36245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Entscheidet über Felder und Mapping, zeichnet das Konzept, trägt die Entscheidung, wenn ein Feld entfällt.</a:t>
            </a:r>
            <a:endParaRPr lang="en-US" sz="1300" dirty="0"/>
          </a:p>
        </p:txBody>
      </p:sp>
      <p:sp>
        <p:nvSpPr>
          <p:cNvPr id="7" name="rolle_1"/>
          <p:cNvSpPr/>
          <p:nvPr/>
        </p:nvSpPr>
        <p:spPr>
          <a:xfrm>
            <a:off x="640080" y="2212848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9"/>
                </a:solidFill>
              </a:rPr>
              <a:t>Application Manager (IT)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3"/>
                </a:solidFill>
              </a:rPr>
              <a:t>Technischer Betrieb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340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Secrets, Überwachung, Wiederanlauf, Erneuerung der Token. Nimmt den technischen Teil ab.</a:t>
            </a:r>
            <a:endParaRPr lang="en-US" sz="1300" dirty="0"/>
          </a:p>
        </p:txBody>
      </p:sp>
      <p:sp>
        <p:nvSpPr>
          <p:cNvPr id="11" name="rolle_2"/>
          <p:cNvSpPr/>
          <p:nvPr/>
        </p:nvSpPr>
        <p:spPr>
          <a:xfrm>
            <a:off x="640080" y="3191256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82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9"/>
                </a:solidFill>
              </a:rPr>
              <a:t>Key User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630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3"/>
                </a:solidFill>
              </a:rPr>
              <a:t>Fachliche Prüfung und Klärfälle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31927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Bearbeitet die Klärliste, nimmt die Datei fachlich ab, erkennt falsche Werte, die technisch plausibel sind.</a:t>
            </a:r>
            <a:endParaRPr lang="en-US" sz="1300" dirty="0"/>
          </a:p>
        </p:txBody>
      </p:sp>
      <p:sp>
        <p:nvSpPr>
          <p:cNvPr id="15" name="rolle_neu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FBF3E6"/>
          </a:solidFill>
          <a:ln w="25400">
            <a:solidFill>
              <a:srgbClr val="C87D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7D1E"/>
                </a:solidFill>
              </a:rPr>
              <a:t>NEU · Integrationsverantwortlicher im Cluster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3"/>
                </a:solidFill>
              </a:rPr>
              <a:t>2–4 Stunden im Monat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40740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Pflegt das Register, wacht über die Standards, prüft neue Vorhaben gegen die bestehenden. Ohne Pflegeverantwortung ist das Register nach sechs Monaten falsch — und ein falsches Register ist schlimmer als keines.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3"/>
                </a:solidFill>
              </a:rPr>
              <a:t>Nicht vorgeschlagen: Integrations-Architekt, Schnittstellen-Gremium, eigenes Board.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entscheiden wollen</a:t>
            </a:r>
            <a:endParaRPr lang="en-US" sz="3000" dirty="0"/>
          </a:p>
        </p:txBody>
      </p:sp>
      <p:sp>
        <p:nvSpPr>
          <p:cNvPr id="3" name="kreis_1"/>
          <p:cNvSpPr/>
          <p:nvPr/>
        </p:nvSpPr>
        <p:spPr>
          <a:xfrm>
            <a:off x="731520" y="1801368"/>
            <a:ext cx="548640" cy="548640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42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45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Technischer Nutzer und Key-Vault-Zugang für SK-001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1709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7"/>
                </a:solidFill>
              </a:rPr>
              <a:t>IT-Betrieb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2075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D1E"/>
                </a:solidFill>
              </a:rPr>
              <a:t>diese Woche</a:t>
            </a:r>
            <a:endParaRPr lang="en-US" sz="1300" dirty="0"/>
          </a:p>
        </p:txBody>
      </p:sp>
      <p:sp>
        <p:nvSpPr>
          <p:cNvPr id="8" name="kreis_2"/>
          <p:cNvSpPr/>
          <p:nvPr/>
        </p:nvSpPr>
        <p:spPr>
          <a:xfrm>
            <a:off x="731520" y="2990088"/>
            <a:ext cx="548640" cy="548640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42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834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Mitzeichnung durch Informationssicherheit und Datenschutz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898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7"/>
                </a:solidFill>
              </a:rPr>
              <a:t>IS und DSB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D1E"/>
                </a:solidFill>
              </a:rPr>
              <a:t>bis Monatsende</a:t>
            </a:r>
            <a:endParaRPr lang="en-US" sz="1300" dirty="0"/>
          </a:p>
        </p:txBody>
      </p:sp>
      <p:sp>
        <p:nvSpPr>
          <p:cNvPr id="13" name="kreis_3"/>
          <p:cNvSpPr/>
          <p:nvPr/>
        </p:nvSpPr>
        <p:spPr>
          <a:xfrm>
            <a:off x="731520" y="4178808"/>
            <a:ext cx="548640" cy="548640"/>
          </a:xfrm>
          <a:prstGeom prst="ellipse">
            <a:avLst/>
          </a:prstGeom>
          <a:solidFill>
            <a:srgbClr val="AFC3C7"/>
          </a:solidFill>
          <a:ln w="12700">
            <a:solidFill>
              <a:srgbClr val="AFC3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42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023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Besetzung des Integrationsverantwortlichen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4087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7"/>
                </a:solidFill>
              </a:rPr>
              <a:t>Cluster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4453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D1E"/>
                </a:solidFill>
              </a:rPr>
              <a:t>diese Woche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3C7"/>
                </a:solidFill>
              </a:rPr>
              <a:t>Das Konzept im Volltext: schnittstellenkonzept/GOVERNANCE.md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Offene Punkte, die wir selbst benennen</a:t>
            </a:r>
            <a:endParaRPr lang="en-US" sz="3000" dirty="0"/>
          </a:p>
        </p:txBody>
      </p:sp>
      <p:sp>
        <p:nvSpPr>
          <p:cNvPr id="3" name="karte_Rohdatenablage"/>
          <p:cNvSpPr/>
          <p:nvPr/>
        </p:nvSpPr>
        <p:spPr>
          <a:xfrm>
            <a:off x="640080" y="128016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Rohdatenablage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Die Zwischenablage in Databricks enthält den vollständigen Vorgang, nicht nur die 16 Exportspalten. Berechtigungskonzept dafür steht noch aus.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52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Eigener Strang, nicht Teil von SK-001.</a:t>
            </a:r>
            <a:endParaRPr lang="en-US" sz="1100" dirty="0"/>
          </a:p>
        </p:txBody>
      </p:sp>
      <p:sp>
        <p:nvSpPr>
          <p:cNvPr id="7" name="karte_Aufbewahrung"/>
          <p:cNvSpPr/>
          <p:nvPr/>
        </p:nvSpPr>
        <p:spPr>
          <a:xfrm>
            <a:off x="6217920" y="128016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Aufbewahrung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0195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EEG-relevante Daten unterliegen Aufbewahrungspflichten. Ein Löschkonzept muss das berücksichtigen — nicht pauschal nach 30 Tagen löschen.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852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Abzustimmen mit Datenschutz und Billing.</a:t>
            </a:r>
            <a:endParaRPr lang="en-US" sz="1100" dirty="0"/>
          </a:p>
        </p:txBody>
      </p:sp>
      <p:sp>
        <p:nvSpPr>
          <p:cNvPr id="11" name="karte_Auftragsverarbeitu"/>
          <p:cNvSpPr/>
          <p:nvPr/>
        </p:nvSpPr>
        <p:spPr>
          <a:xfrm>
            <a:off x="640080" y="36118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813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Auftragsverarbeitung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3367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AV-Vertrag mit epilot als SaaS-Anbieter. Prüfpunkt für den Datenschutz, nicht für das Cluster.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184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Status uns nicht bekannt.</a:t>
            </a:r>
            <a:endParaRPr lang="en-US" sz="1100" dirty="0"/>
          </a:p>
        </p:txBody>
      </p:sp>
      <p:sp>
        <p:nvSpPr>
          <p:cNvPr id="15" name="karte_Token-Erneuerung"/>
          <p:cNvSpPr/>
          <p:nvPr/>
        </p:nvSpPr>
        <p:spPr>
          <a:xfrm>
            <a:off x="6217920" y="36118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BF3E6"/>
          </a:solidFill>
          <a:ln w="12700">
            <a:solidFill>
              <a:srgbClr val="FBF3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813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D1E"/>
                </a:solidFill>
              </a:rPr>
              <a:t>Token-Erneuerung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23367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Ein Token, der um 2 Uhr nachts ausläuft, ist ein vermeidbarer Störfall. Erneuerung braucht Termin und Verantwortlichen.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184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3"/>
                </a:solidFill>
              </a:rPr>
              <a:t>Teil von Stufe 1, Verantwortlicher offen.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GD Schnittstellen">
  <a:themeElements>
    <a:clrScheme name="NGD Schnittstellen">
      <a:dk1>
        <a:srgbClr val="1A1A1A"/>
      </a:dk1>
      <a:lt1>
        <a:srgbClr val="FFFFFF"/>
      </a:lt1>
      <a:dk2>
        <a:srgbClr val="1F3B42"/>
      </a:dk2>
      <a:lt2>
        <a:srgbClr val="F4F6F6"/>
      </a:lt2>
      <a:accent1>
        <a:srgbClr val="0E5A69"/>
      </a:accent1>
      <a:accent2>
        <a:srgbClr val="C87D1E"/>
      </a:accent2>
      <a:accent3>
        <a:srgbClr val="5A6A73"/>
      </a:accent3>
      <a:accent4>
        <a:srgbClr val="2C7A6B"/>
      </a:accent4>
      <a:accent5>
        <a:srgbClr val="8E3324"/>
      </a:accent5>
      <a:accent6>
        <a:srgbClr val="AFC3C7"/>
      </a:accent6>
      <a:hlink>
        <a:srgbClr val="0E5A69"/>
      </a:hlink>
      <a:folHlink>
        <a:srgbClr val="5A6A73"/>
      </a:folHlink>
    </a:clrScheme>
    <a:fontScheme name="NGD Schnittstell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für Schnittstellen</dc:title>
  <dc:subject>PptxGenJS Presentation</dc:subject>
  <dc:creator>Cluster Digitalisierung, Data &amp; AI</dc:creator>
  <cp:lastModifiedBy>Cluster Digitalisierung, Data &amp; AI</cp:lastModifiedBy>
  <cp:revision>1</cp:revision>
  <dcterms:created xsi:type="dcterms:W3CDTF">2026-10-09T13:35:06Z</dcterms:created>
  <dcterms:modified xsi:type="dcterms:W3CDTF">2026-10-09T13:35:06Z</dcterms:modified>
</cp:coreProperties>
</file>